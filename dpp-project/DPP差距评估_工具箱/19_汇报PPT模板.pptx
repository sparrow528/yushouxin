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jec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jec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6195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944596" y="1374458"/>
            <a:ext cx="230280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[客户名称]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39851" y="1994535"/>
            <a:ext cx="311229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DPP差距评估报告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08170" y="2695575"/>
            <a:ext cx="33756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B0BEC5"/>
                </a:solidFill>
                <a:latin typeface="Arial"/>
                <a:ea typeface="Microsoft YaHei"/>
                <a:cs typeface="Arial"/>
              </a:rPr>
              <a:t>基于欧盟电池法规 (EU) 2023/1542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62239" y="4235768"/>
            <a:ext cx="16675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汇报方：[公司名称]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34844" y="4616768"/>
            <a:ext cx="11223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日期：[日期]</a:t>
            </a:r>
          </a:p>
        </p:txBody>
      </p:sp>
      <p:sp>
        <p:nvSpPr>
          <p:cNvPr id="8" name="Rectangle 8"/>
          <p:cNvSpPr/>
          <p:nvPr/>
        </p:nvSpPr>
        <p:spPr>
          <a:xfrm>
            <a:off x="5143500" y="5334000"/>
            <a:ext cx="1905000" cy="342900"/>
          </a:xfrm>
          <a:prstGeom prst="roundRect">
            <a:avLst>
              <a:gd name="adj" fmla="val 11111"/>
            </a:avLst>
          </a:prstGeom>
          <a:solidFill>
            <a:srgbClr val="1A237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419632" y="5449252"/>
            <a:ext cx="13527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机密 / Confidential</a:t>
            </a:r>
          </a:p>
        </p:txBody>
      </p:sp>
      <p:sp>
        <p:nvSpPr>
          <p:cNvPr id="10" name="Rectangle 10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71488" y="6626066"/>
            <a:ext cx="5725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[公司名称]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92147" y="6626066"/>
            <a:ext cx="100770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机密 / Confidential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50274" y="6626066"/>
            <a:ext cx="7023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477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832" y="297180"/>
            <a:ext cx="61501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667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28575">
            <a:solidFill>
              <a:srgbClr val="2E7D32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938784" y="851535"/>
            <a:ext cx="2196846" cy="3861816"/>
            <a:chOff x="938784" y="851535"/>
            <a:chExt cx="2196846" cy="3861816"/>
          </a:xfrm>
        </p:grpSpPr>
        <p:sp>
          <p:nvSpPr>
            <p:cNvPr id="5" name="TextBox 5"/>
            <p:cNvSpPr txBox="1"/>
            <p:nvPr/>
          </p:nvSpPr>
          <p:spPr>
            <a:xfrm>
              <a:off x="938784" y="85153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706880" y="9810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项目概述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38784" y="15182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06880" y="16478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评估范围与方法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38784" y="218503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6880" y="23145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评估结果总览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8784" y="28517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6880" y="29813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关键发现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8784" y="351853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6880" y="36480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整改路线图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8784" y="41852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6880" y="43148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下一步建议</a:t>
              </a:r>
            </a:p>
          </p:txBody>
        </p:sp>
      </p:grpSp>
      <p:sp>
        <p:nvSpPr>
          <p:cNvPr id="18" name="Rectangle 18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71488" y="6626066"/>
            <a:ext cx="5725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[公司名称]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92147" y="6626066"/>
            <a:ext cx="100770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机密 / Confidential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650274" y="6626066"/>
            <a:ext cx="7023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477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832" y="297180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项目概述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6675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28575">
            <a:solidFill>
              <a:srgbClr val="2E7D32"/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571500" y="952500"/>
            <a:ext cx="10668000" cy="2095500"/>
            <a:chOff x="571500" y="952500"/>
            <a:chExt cx="10668000" cy="2095500"/>
          </a:xfrm>
        </p:grpSpPr>
        <p:sp>
          <p:nvSpPr>
            <p:cNvPr id="5" name="Rectangle 5"/>
            <p:cNvSpPr/>
            <p:nvPr/>
          </p:nvSpPr>
          <p:spPr>
            <a:xfrm>
              <a:off x="571500" y="952500"/>
              <a:ext cx="3429000" cy="952500"/>
            </a:xfrm>
            <a:prstGeom prst="roundRect">
              <a:avLst>
                <a:gd name="adj" fmla="val 4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6666" y="11249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客户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3618" y="1345882"/>
              <a:ext cx="12062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[客户名称]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191000" y="952500"/>
              <a:ext cx="3429000" cy="952500"/>
            </a:xfrm>
            <a:prstGeom prst="roundRect">
              <a:avLst>
                <a:gd name="adj" fmla="val 4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376166" y="11249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评估日期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73118" y="1345882"/>
              <a:ext cx="12062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[起止日期]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810500" y="952500"/>
              <a:ext cx="3429000" cy="952500"/>
            </a:xfrm>
            <a:prstGeom prst="roundRect">
              <a:avLst>
                <a:gd name="adj" fmla="val 4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95666" y="11249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电池类型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92618" y="1345882"/>
              <a:ext cx="7397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[类型]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095500"/>
              <a:ext cx="3429000" cy="952500"/>
            </a:xfrm>
            <a:prstGeom prst="roundRect">
              <a:avLst>
                <a:gd name="adj" fmla="val 4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6666" y="2267902"/>
              <a:ext cx="5558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SKU数量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3618" y="2488882"/>
              <a:ext cx="7397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[数量]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191000" y="2095500"/>
              <a:ext cx="7048500" cy="952500"/>
            </a:xfrm>
            <a:prstGeom prst="roundRect">
              <a:avLst>
                <a:gd name="adj" fmla="val 4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376166" y="22679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评估范围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73118" y="2488882"/>
              <a:ext cx="23983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Annex XIII 71个数据点</a:t>
              </a:r>
            </a:p>
          </p:txBody>
        </p:sp>
      </p:grpSp>
      <p:sp>
        <p:nvSpPr>
          <p:cNvPr id="21" name="Rectangle 21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71488" y="6626066"/>
            <a:ext cx="5725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[公司名称]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92147" y="6626066"/>
            <a:ext cx="100770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机密 / Confidential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650274" y="6626066"/>
            <a:ext cx="7023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477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832" y="297180"/>
            <a:ext cx="20991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评估范围与方法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6675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28575">
            <a:solidFill>
              <a:srgbClr val="2E7D32"/>
            </a:solidFill>
          </a:ln>
        </p:spPr>
      </p:sp>
      <p:grpSp>
        <p:nvGrpSpPr>
          <p:cNvPr id="19" name="Group 19"/>
          <p:cNvGrpSpPr/>
          <p:nvPr/>
        </p:nvGrpSpPr>
        <p:grpSpPr>
          <a:xfrm>
            <a:off x="571500" y="952500"/>
            <a:ext cx="10668000" cy="2286000"/>
            <a:chOff x="571500" y="952500"/>
            <a:chExt cx="10668000" cy="2286000"/>
          </a:xfrm>
        </p:grpSpPr>
        <p:sp>
          <p:nvSpPr>
            <p:cNvPr id="5" name="Rectangle 5"/>
            <p:cNvSpPr/>
            <p:nvPr/>
          </p:nvSpPr>
          <p:spPr>
            <a:xfrm>
              <a:off x="571500" y="952500"/>
              <a:ext cx="5143500" cy="2286000"/>
            </a:xfrm>
            <a:prstGeom prst="roundRect">
              <a:avLst>
                <a:gd name="adj" fmla="val 1667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5142" y="11401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法规依据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4380" y="1457325"/>
              <a:ext cx="27558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12121"/>
                  </a:solidFill>
                  <a:latin typeface="Arial"/>
                  <a:ea typeface="Arial"/>
                  <a:cs typeface="Arial"/>
                </a:rPr>
                <a:t>(EU) 2023/1542 + Annex XIII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5142" y="19497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评估方法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5904" y="2299335"/>
              <a:ext cx="7879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桌面审查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5904" y="2537460"/>
              <a:ext cx="7879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访谈确认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904" y="2775585"/>
              <a:ext cx="7879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文档分析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96000" y="952500"/>
              <a:ext cx="5143500" cy="2286000"/>
            </a:xfrm>
            <a:prstGeom prst="roundRect">
              <a:avLst>
                <a:gd name="adj" fmla="val 1667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9642" y="11401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数据来源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0404" y="1489710"/>
              <a:ext cx="1110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企业内部数据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80404" y="1775460"/>
              <a:ext cx="9494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供应商数据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80404" y="2061210"/>
              <a:ext cx="9494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第三方数据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79642" y="25212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适用数据点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77356" y="2806065"/>
              <a:ext cx="27603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X/71（根据电池类型）</a:t>
              </a:r>
            </a:p>
          </p:txBody>
        </p:sp>
      </p:grpSp>
      <p:sp>
        <p:nvSpPr>
          <p:cNvPr id="20" name="Rectangle 20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71488" y="6626066"/>
            <a:ext cx="5725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[公司名称]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92147" y="6626066"/>
            <a:ext cx="100770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机密 / Confidential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650274" y="6626066"/>
            <a:ext cx="7023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477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832" y="297180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评估结果总览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6675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28575">
            <a:solidFill>
              <a:srgbClr val="2E7D32"/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1047750" y="2286344"/>
            <a:ext cx="2665626" cy="2666656"/>
            <a:chOff x="1047750" y="2286344"/>
            <a:chExt cx="2665626" cy="2666656"/>
          </a:xfrm>
        </p:grpSpPr>
        <p:sp>
          <p:nvSpPr>
            <p:cNvPr id="5" name="Ellipse 5"/>
            <p:cNvSpPr/>
            <p:nvPr/>
          </p:nvSpPr>
          <p:spPr>
            <a:xfrm>
              <a:off x="1238250" y="2476500"/>
              <a:ext cx="2286000" cy="2286000"/>
            </a:xfrm>
            <a:prstGeom prst="ellipse">
              <a:avLst/>
            </a:prstGeom>
            <a:noFill/>
            <a:ln w="381000">
              <a:solidFill>
                <a:srgbClr val="E0E0E0"/>
              </a:solidFill>
            </a:ln>
          </p:spPr>
        </p:sp>
        <p:sp>
          <p:nvSpPr>
            <p:cNvPr id="6" name="Arc 6"/>
            <p:cNvSpPr/>
            <p:nvPr/>
          </p:nvSpPr>
          <p:spPr>
            <a:xfrm>
              <a:off x="1047750" y="2286344"/>
              <a:ext cx="2665626" cy="2411403"/>
            </a:xfrm>
            <a:custGeom>
              <a:avLst/>
              <a:gdLst/>
              <a:ahLst/>
              <a:cxnLst/>
              <a:rect l="l" t="t" r="r" b="b"/>
              <a:pathLst>
                <a:path w="2665626" h="2411403">
                  <a:moveTo>
                    <a:pt x="0" y="1333156"/>
                  </a:moveTo>
                  <a:lnTo>
                    <a:pt x="6608" y="1200568"/>
                  </a:lnTo>
                  <a:lnTo>
                    <a:pt x="26366" y="1069294"/>
                  </a:lnTo>
                  <a:lnTo>
                    <a:pt x="59079" y="940634"/>
                  </a:lnTo>
                  <a:lnTo>
                    <a:pt x="104422" y="815865"/>
                  </a:lnTo>
                  <a:lnTo>
                    <a:pt x="161947" y="696222"/>
                  </a:lnTo>
                  <a:lnTo>
                    <a:pt x="231082" y="582892"/>
                  </a:lnTo>
                  <a:lnTo>
                    <a:pt x="311143" y="476998"/>
                  </a:lnTo>
                  <a:lnTo>
                    <a:pt x="401336" y="379588"/>
                  </a:lnTo>
                  <a:lnTo>
                    <a:pt x="500767" y="291630"/>
                  </a:lnTo>
                  <a:lnTo>
                    <a:pt x="608451" y="213993"/>
                  </a:lnTo>
                  <a:lnTo>
                    <a:pt x="723322" y="147448"/>
                  </a:lnTo>
                  <a:lnTo>
                    <a:pt x="844239" y="92654"/>
                  </a:lnTo>
                  <a:lnTo>
                    <a:pt x="970005" y="50155"/>
                  </a:lnTo>
                  <a:lnTo>
                    <a:pt x="1099374" y="20370"/>
                  </a:lnTo>
                  <a:lnTo>
                    <a:pt x="1231063" y="3597"/>
                  </a:lnTo>
                  <a:lnTo>
                    <a:pt x="1363767" y="0"/>
                  </a:lnTo>
                  <a:lnTo>
                    <a:pt x="1496172" y="9616"/>
                  </a:lnTo>
                  <a:lnTo>
                    <a:pt x="1626964" y="32349"/>
                  </a:lnTo>
                  <a:lnTo>
                    <a:pt x="1754848" y="67973"/>
                  </a:lnTo>
                  <a:lnTo>
                    <a:pt x="1878555" y="116137"/>
                  </a:lnTo>
                  <a:lnTo>
                    <a:pt x="1996861" y="176362"/>
                  </a:lnTo>
                  <a:lnTo>
                    <a:pt x="2108593" y="248051"/>
                  </a:lnTo>
                  <a:lnTo>
                    <a:pt x="2212643" y="330495"/>
                  </a:lnTo>
                  <a:lnTo>
                    <a:pt x="2307980" y="422876"/>
                  </a:lnTo>
                  <a:lnTo>
                    <a:pt x="2393660" y="524278"/>
                  </a:lnTo>
                  <a:lnTo>
                    <a:pt x="2468832" y="633697"/>
                  </a:lnTo>
                  <a:lnTo>
                    <a:pt x="2532753" y="750048"/>
                  </a:lnTo>
                  <a:lnTo>
                    <a:pt x="2584788" y="872178"/>
                  </a:lnTo>
                  <a:lnTo>
                    <a:pt x="2624422" y="998876"/>
                  </a:lnTo>
                  <a:lnTo>
                    <a:pt x="2651262" y="1128888"/>
                  </a:lnTo>
                  <a:lnTo>
                    <a:pt x="2665042" y="1260924"/>
                  </a:lnTo>
                  <a:lnTo>
                    <a:pt x="2665626" y="1393676"/>
                  </a:lnTo>
                  <a:lnTo>
                    <a:pt x="2653008" y="1525827"/>
                  </a:lnTo>
                  <a:lnTo>
                    <a:pt x="2627312" y="1656070"/>
                  </a:lnTo>
                  <a:lnTo>
                    <a:pt x="2588794" y="1783112"/>
                  </a:lnTo>
                  <a:lnTo>
                    <a:pt x="2537835" y="1905695"/>
                  </a:lnTo>
                  <a:lnTo>
                    <a:pt x="2474940" y="2022604"/>
                  </a:lnTo>
                  <a:lnTo>
                    <a:pt x="2400733" y="2132679"/>
                  </a:lnTo>
                  <a:lnTo>
                    <a:pt x="2315948" y="2234831"/>
                  </a:lnTo>
                  <a:lnTo>
                    <a:pt x="2221428" y="2328047"/>
                  </a:lnTo>
                  <a:lnTo>
                    <a:pt x="2118107" y="2411403"/>
                  </a:lnTo>
                  <a:lnTo>
                    <a:pt x="1893933" y="2103332"/>
                  </a:lnTo>
                  <a:lnTo>
                    <a:pt x="1967734" y="2043792"/>
                  </a:lnTo>
                  <a:lnTo>
                    <a:pt x="2035249" y="1977210"/>
                  </a:lnTo>
                  <a:lnTo>
                    <a:pt x="2095809" y="1904244"/>
                  </a:lnTo>
                  <a:lnTo>
                    <a:pt x="2148814" y="1825619"/>
                  </a:lnTo>
                  <a:lnTo>
                    <a:pt x="2193739" y="1742113"/>
                  </a:lnTo>
                  <a:lnTo>
                    <a:pt x="2230138" y="1654553"/>
                  </a:lnTo>
                  <a:lnTo>
                    <a:pt x="2257651" y="1563809"/>
                  </a:lnTo>
                  <a:lnTo>
                    <a:pt x="2276005" y="1470779"/>
                  </a:lnTo>
                  <a:lnTo>
                    <a:pt x="2285019" y="1376384"/>
                  </a:lnTo>
                  <a:lnTo>
                    <a:pt x="2284602" y="1281562"/>
                  </a:lnTo>
                  <a:lnTo>
                    <a:pt x="2274759" y="1187250"/>
                  </a:lnTo>
                  <a:lnTo>
                    <a:pt x="2255587" y="1094385"/>
                  </a:lnTo>
                  <a:lnTo>
                    <a:pt x="2227277" y="1003886"/>
                  </a:lnTo>
                  <a:lnTo>
                    <a:pt x="2190109" y="916650"/>
                  </a:lnTo>
                  <a:lnTo>
                    <a:pt x="2144451" y="833543"/>
                  </a:lnTo>
                  <a:lnTo>
                    <a:pt x="2090757" y="755386"/>
                  </a:lnTo>
                  <a:lnTo>
                    <a:pt x="2029557" y="682956"/>
                  </a:lnTo>
                  <a:lnTo>
                    <a:pt x="1961459" y="616970"/>
                  </a:lnTo>
                  <a:lnTo>
                    <a:pt x="1887138" y="558081"/>
                  </a:lnTo>
                  <a:lnTo>
                    <a:pt x="1807330" y="506875"/>
                  </a:lnTo>
                  <a:lnTo>
                    <a:pt x="1722825" y="463857"/>
                  </a:lnTo>
                  <a:lnTo>
                    <a:pt x="1634463" y="429454"/>
                  </a:lnTo>
                  <a:lnTo>
                    <a:pt x="1543117" y="404008"/>
                  </a:lnTo>
                  <a:lnTo>
                    <a:pt x="1449694" y="387770"/>
                  </a:lnTo>
                  <a:lnTo>
                    <a:pt x="1355120" y="380902"/>
                  </a:lnTo>
                  <a:lnTo>
                    <a:pt x="1260331" y="383471"/>
                  </a:lnTo>
                  <a:lnTo>
                    <a:pt x="1166267" y="395452"/>
                  </a:lnTo>
                  <a:lnTo>
                    <a:pt x="1073861" y="416727"/>
                  </a:lnTo>
                  <a:lnTo>
                    <a:pt x="984028" y="447083"/>
                  </a:lnTo>
                  <a:lnTo>
                    <a:pt x="897658" y="486222"/>
                  </a:lnTo>
                  <a:lnTo>
                    <a:pt x="815608" y="533754"/>
                  </a:lnTo>
                  <a:lnTo>
                    <a:pt x="738691" y="589209"/>
                  </a:lnTo>
                  <a:lnTo>
                    <a:pt x="667668" y="652036"/>
                  </a:lnTo>
                  <a:lnTo>
                    <a:pt x="603245" y="721615"/>
                  </a:lnTo>
                  <a:lnTo>
                    <a:pt x="546058" y="797253"/>
                  </a:lnTo>
                  <a:lnTo>
                    <a:pt x="496676" y="878204"/>
                  </a:lnTo>
                  <a:lnTo>
                    <a:pt x="455587" y="963662"/>
                  </a:lnTo>
                  <a:lnTo>
                    <a:pt x="423199" y="1052783"/>
                  </a:lnTo>
                  <a:lnTo>
                    <a:pt x="399833" y="1144683"/>
                  </a:lnTo>
                  <a:lnTo>
                    <a:pt x="385720" y="1238450"/>
                  </a:lnTo>
                  <a:lnTo>
                    <a:pt x="381000" y="1333156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7" name="Arc 7"/>
            <p:cNvSpPr/>
            <p:nvPr/>
          </p:nvSpPr>
          <p:spPr>
            <a:xfrm>
              <a:off x="1596404" y="4389551"/>
              <a:ext cx="1569453" cy="563449"/>
            </a:xfrm>
            <a:custGeom>
              <a:avLst/>
              <a:gdLst/>
              <a:ahLst/>
              <a:cxnLst/>
              <a:rect l="l" t="t" r="r" b="b"/>
              <a:pathLst>
                <a:path w="1569453" h="563449">
                  <a:moveTo>
                    <a:pt x="1569453" y="308195"/>
                  </a:moveTo>
                  <a:lnTo>
                    <a:pt x="1482315" y="366504"/>
                  </a:lnTo>
                  <a:lnTo>
                    <a:pt x="1390866" y="417788"/>
                  </a:lnTo>
                  <a:lnTo>
                    <a:pt x="1295671" y="461728"/>
                  </a:lnTo>
                  <a:lnTo>
                    <a:pt x="1197317" y="498053"/>
                  </a:lnTo>
                  <a:lnTo>
                    <a:pt x="1096414" y="526539"/>
                  </a:lnTo>
                  <a:lnTo>
                    <a:pt x="993584" y="547010"/>
                  </a:lnTo>
                  <a:lnTo>
                    <a:pt x="889465" y="559338"/>
                  </a:lnTo>
                  <a:lnTo>
                    <a:pt x="784698" y="563449"/>
                  </a:lnTo>
                  <a:lnTo>
                    <a:pt x="679932" y="559315"/>
                  </a:lnTo>
                  <a:lnTo>
                    <a:pt x="575815" y="546964"/>
                  </a:lnTo>
                  <a:lnTo>
                    <a:pt x="472990" y="526470"/>
                  </a:lnTo>
                  <a:lnTo>
                    <a:pt x="372093" y="497962"/>
                  </a:lnTo>
                  <a:lnTo>
                    <a:pt x="273748" y="461615"/>
                  </a:lnTo>
                  <a:lnTo>
                    <a:pt x="178562" y="417653"/>
                  </a:lnTo>
                  <a:lnTo>
                    <a:pt x="87124" y="366349"/>
                  </a:lnTo>
                  <a:lnTo>
                    <a:pt x="0" y="308021"/>
                  </a:lnTo>
                  <a:lnTo>
                    <a:pt x="224242" y="0"/>
                  </a:lnTo>
                  <a:lnTo>
                    <a:pt x="286473" y="41664"/>
                  </a:lnTo>
                  <a:lnTo>
                    <a:pt x="351786" y="78309"/>
                  </a:lnTo>
                  <a:lnTo>
                    <a:pt x="419776" y="109710"/>
                  </a:lnTo>
                  <a:lnTo>
                    <a:pt x="490023" y="135672"/>
                  </a:lnTo>
                  <a:lnTo>
                    <a:pt x="562092" y="156036"/>
                  </a:lnTo>
                  <a:lnTo>
                    <a:pt x="635538" y="170674"/>
                  </a:lnTo>
                  <a:lnTo>
                    <a:pt x="709908" y="179496"/>
                  </a:lnTo>
                  <a:lnTo>
                    <a:pt x="784740" y="182449"/>
                  </a:lnTo>
                  <a:lnTo>
                    <a:pt x="859574" y="179513"/>
                  </a:lnTo>
                  <a:lnTo>
                    <a:pt x="933945" y="170707"/>
                  </a:lnTo>
                  <a:lnTo>
                    <a:pt x="1007394" y="156085"/>
                  </a:lnTo>
                  <a:lnTo>
                    <a:pt x="1079468" y="135738"/>
                  </a:lnTo>
                  <a:lnTo>
                    <a:pt x="1149721" y="109791"/>
                  </a:lnTo>
                  <a:lnTo>
                    <a:pt x="1217718" y="78405"/>
                  </a:lnTo>
                  <a:lnTo>
                    <a:pt x="1283038" y="41774"/>
                  </a:lnTo>
                  <a:lnTo>
                    <a:pt x="1345279" y="124"/>
                  </a:lnTo>
                  <a:close/>
                </a:path>
              </a:pathLst>
            </a:custGeom>
            <a:solidFill>
              <a:srgbClr val="F57C00"/>
            </a:solidFill>
            <a:ln>
              <a:noFill/>
            </a:ln>
          </p:spPr>
        </p:sp>
        <p:sp>
          <p:nvSpPr>
            <p:cNvPr id="8" name="Arc 8"/>
            <p:cNvSpPr/>
            <p:nvPr/>
          </p:nvSpPr>
          <p:spPr>
            <a:xfrm>
              <a:off x="1047750" y="3619303"/>
              <a:ext cx="772896" cy="1078269"/>
            </a:xfrm>
            <a:custGeom>
              <a:avLst/>
              <a:gdLst/>
              <a:ahLst/>
              <a:cxnLst/>
              <a:rect l="l" t="t" r="r" b="b"/>
              <a:pathLst>
                <a:path w="772896" h="1078269">
                  <a:moveTo>
                    <a:pt x="548654" y="1078269"/>
                  </a:moveTo>
                  <a:lnTo>
                    <a:pt x="486600" y="1030238"/>
                  </a:lnTo>
                  <a:lnTo>
                    <a:pt x="427480" y="978640"/>
                  </a:lnTo>
                  <a:lnTo>
                    <a:pt x="371496" y="923653"/>
                  </a:lnTo>
                  <a:lnTo>
                    <a:pt x="318844" y="865469"/>
                  </a:lnTo>
                  <a:lnTo>
                    <a:pt x="269705" y="804289"/>
                  </a:lnTo>
                  <a:lnTo>
                    <a:pt x="224250" y="740324"/>
                  </a:lnTo>
                  <a:lnTo>
                    <a:pt x="182636" y="673796"/>
                  </a:lnTo>
                  <a:lnTo>
                    <a:pt x="145008" y="604936"/>
                  </a:lnTo>
                  <a:lnTo>
                    <a:pt x="111495" y="533981"/>
                  </a:lnTo>
                  <a:lnTo>
                    <a:pt x="82213" y="461179"/>
                  </a:lnTo>
                  <a:lnTo>
                    <a:pt x="57265" y="386780"/>
                  </a:lnTo>
                  <a:lnTo>
                    <a:pt x="36736" y="311042"/>
                  </a:lnTo>
                  <a:lnTo>
                    <a:pt x="20697" y="234228"/>
                  </a:lnTo>
                  <a:lnTo>
                    <a:pt x="9204" y="156603"/>
                  </a:lnTo>
                  <a:lnTo>
                    <a:pt x="2297" y="78437"/>
                  </a:lnTo>
                  <a:lnTo>
                    <a:pt x="0" y="0"/>
                  </a:lnTo>
                  <a:lnTo>
                    <a:pt x="381000" y="56"/>
                  </a:lnTo>
                  <a:lnTo>
                    <a:pt x="382641" y="56083"/>
                  </a:lnTo>
                  <a:lnTo>
                    <a:pt x="387574" y="111916"/>
                  </a:lnTo>
                  <a:lnTo>
                    <a:pt x="395783" y="167362"/>
                  </a:lnTo>
                  <a:lnTo>
                    <a:pt x="407240" y="222229"/>
                  </a:lnTo>
                  <a:lnTo>
                    <a:pt x="421903" y="276328"/>
                  </a:lnTo>
                  <a:lnTo>
                    <a:pt x="439724" y="329470"/>
                  </a:lnTo>
                  <a:lnTo>
                    <a:pt x="460639" y="381472"/>
                  </a:lnTo>
                  <a:lnTo>
                    <a:pt x="484577" y="432153"/>
                  </a:lnTo>
                  <a:lnTo>
                    <a:pt x="511455" y="481339"/>
                  </a:lnTo>
                  <a:lnTo>
                    <a:pt x="541179" y="528859"/>
                  </a:lnTo>
                  <a:lnTo>
                    <a:pt x="573647" y="574548"/>
                  </a:lnTo>
                  <a:lnTo>
                    <a:pt x="608746" y="618249"/>
                  </a:lnTo>
                  <a:lnTo>
                    <a:pt x="646354" y="659809"/>
                  </a:lnTo>
                  <a:lnTo>
                    <a:pt x="686343" y="699085"/>
                  </a:lnTo>
                  <a:lnTo>
                    <a:pt x="728572" y="735941"/>
                  </a:lnTo>
                  <a:lnTo>
                    <a:pt x="772896" y="770249"/>
                  </a:lnTo>
                  <a:close/>
                </a:path>
              </a:pathLst>
            </a:custGeom>
            <a:solidFill>
              <a:srgbClr val="C6282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892263" y="3135630"/>
              <a:ext cx="97797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65%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71294" y="3680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数据覆盖率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72000" y="1047750"/>
            <a:ext cx="6953250" cy="1047750"/>
            <a:chOff x="4572000" y="1047750"/>
            <a:chExt cx="6953250" cy="1047750"/>
          </a:xfrm>
        </p:grpSpPr>
        <p:sp>
          <p:nvSpPr>
            <p:cNvPr id="12" name="Rectangle 12"/>
            <p:cNvSpPr/>
            <p:nvPr/>
          </p:nvSpPr>
          <p:spPr>
            <a:xfrm>
              <a:off x="4572000" y="1047750"/>
              <a:ext cx="2190750" cy="1047750"/>
            </a:xfrm>
            <a:prstGeom prst="roundRect">
              <a:avLst>
                <a:gd name="adj" fmla="val 7273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757166" y="12201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已覆盖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48784" y="1423035"/>
              <a:ext cx="107696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E7D32"/>
                  </a:solidFill>
                  <a:latin typeface="Arial"/>
                  <a:ea typeface="Arial"/>
                  <a:cs typeface="Arial"/>
                </a:rPr>
                <a:t>46/71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57166" y="1839278"/>
              <a:ext cx="272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16161"/>
                  </a:solidFill>
                  <a:latin typeface="Arial"/>
                  <a:ea typeface="Arial"/>
                  <a:cs typeface="Arial"/>
                </a:rPr>
                <a:t>65%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953250" y="1047750"/>
              <a:ext cx="2190750" cy="1047750"/>
            </a:xfrm>
            <a:prstGeom prst="roundRect">
              <a:avLst>
                <a:gd name="adj" fmla="val 7273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38416" y="12201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部分覆盖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0034" y="1423035"/>
              <a:ext cx="107696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F57C00"/>
                  </a:solidFill>
                  <a:latin typeface="Arial"/>
                  <a:ea typeface="Arial"/>
                  <a:cs typeface="Arial"/>
                </a:rPr>
                <a:t>14/71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8416" y="1839278"/>
              <a:ext cx="272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16161"/>
                  </a:solidFill>
                  <a:latin typeface="Arial"/>
                  <a:ea typeface="Arial"/>
                  <a:cs typeface="Arial"/>
                </a:rPr>
                <a:t>20%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334500" y="1047750"/>
              <a:ext cx="2190750" cy="1047750"/>
            </a:xfrm>
            <a:prstGeom prst="roundRect">
              <a:avLst>
                <a:gd name="adj" fmla="val 7273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519666" y="12201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缺失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511284" y="1423035"/>
              <a:ext cx="107696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C62828"/>
                  </a:solidFill>
                  <a:latin typeface="Arial"/>
                  <a:ea typeface="Arial"/>
                  <a:cs typeface="Arial"/>
                </a:rPr>
                <a:t>11/71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19666" y="1839278"/>
              <a:ext cx="272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16161"/>
                  </a:solidFill>
                  <a:latin typeface="Arial"/>
                  <a:ea typeface="Arial"/>
                  <a:cs typeface="Arial"/>
                </a:rPr>
                <a:t>15%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65142" y="2521268"/>
            <a:ext cx="6340983" cy="812482"/>
            <a:chOff x="4565142" y="2521268"/>
            <a:chExt cx="6340983" cy="812482"/>
          </a:xfrm>
        </p:grpSpPr>
        <p:sp>
          <p:nvSpPr>
            <p:cNvPr id="25" name="TextBox 25"/>
            <p:cNvSpPr txBox="1"/>
            <p:nvPr/>
          </p:nvSpPr>
          <p:spPr>
            <a:xfrm>
              <a:off x="4565142" y="25212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差距分级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572000" y="2857500"/>
              <a:ext cx="1524000" cy="476250"/>
            </a:xfrm>
            <a:prstGeom prst="roundRect">
              <a:avLst>
                <a:gd name="adj" fmla="val 8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985373" y="3040856"/>
              <a:ext cx="697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A级：3项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238875" y="2857500"/>
              <a:ext cx="1524000" cy="476250"/>
            </a:xfrm>
            <a:prstGeom prst="roundRect">
              <a:avLst>
                <a:gd name="adj" fmla="val 8000"/>
              </a:avLst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52248" y="3040856"/>
              <a:ext cx="697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B级：8项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905750" y="2857500"/>
              <a:ext cx="1524000" cy="476250"/>
            </a:xfrm>
            <a:prstGeom prst="roundRect">
              <a:avLst>
                <a:gd name="adj" fmla="val 8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73122" y="3040856"/>
              <a:ext cx="789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C级：15项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572625" y="2857500"/>
              <a:ext cx="1333500" cy="476250"/>
            </a:xfrm>
            <a:prstGeom prst="roundRect">
              <a:avLst>
                <a:gd name="adj" fmla="val 8000"/>
              </a:avLst>
            </a:prstGeom>
            <a:solidFill>
              <a:srgbClr val="61616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90748" y="3040856"/>
              <a:ext cx="697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D级：6项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4567047" y="3704749"/>
            <a:ext cx="322993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A级=阻断级 | B级=重大 | C级=可改善 | D级=最佳实践</a:t>
            </a:r>
          </a:p>
        </p:txBody>
      </p:sp>
      <p:sp>
        <p:nvSpPr>
          <p:cNvPr id="36" name="Rectangle 36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71488" y="6626066"/>
            <a:ext cx="5725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[公司名称]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592147" y="6626066"/>
            <a:ext cx="100770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机密 / Confidential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650274" y="6626066"/>
            <a:ext cx="7023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477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832" y="297180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按类别分布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6675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28575">
            <a:solidFill>
              <a:srgbClr val="2E7D32"/>
            </a:solidFill>
          </a:ln>
        </p:spPr>
      </p:sp>
      <p:grpSp>
        <p:nvGrpSpPr>
          <p:cNvPr id="75" name="Group 75"/>
          <p:cNvGrpSpPr/>
          <p:nvPr/>
        </p:nvGrpSpPr>
        <p:grpSpPr>
          <a:xfrm>
            <a:off x="571500" y="952500"/>
            <a:ext cx="10858500" cy="3409950"/>
            <a:chOff x="571500" y="952500"/>
            <a:chExt cx="10858500" cy="3409950"/>
          </a:xfrm>
        </p:grpSpPr>
        <p:sp>
          <p:nvSpPr>
            <p:cNvPr id="5" name="Rectangle 5"/>
            <p:cNvSpPr/>
            <p:nvPr/>
          </p:nvSpPr>
          <p:spPr>
            <a:xfrm>
              <a:off x="571500" y="952500"/>
              <a:ext cx="10858500" cy="361950"/>
            </a:xfrm>
            <a:prstGeom prst="roundRect">
              <a:avLst>
                <a:gd name="adj" fmla="val 5263"/>
              </a:avLst>
            </a:prstGeom>
            <a:solidFill>
              <a:srgbClr val="1A237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6666" y="10868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类别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269829" y="10868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总数据点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82288" y="108680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已覆盖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46329" y="10868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部分覆盖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32997" y="10868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缺失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68538" y="108680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覆盖率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952500"/>
              <a:ext cx="10858500" cy="361950"/>
            </a:xfrm>
            <a:prstGeom prst="roundRect">
              <a:avLst>
                <a:gd name="adj" fmla="val 5263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6666" y="1086802"/>
              <a:ext cx="14145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类别A: 电池化学信息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27794" y="1086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12121"/>
                  </a:solidFill>
                  <a:latin typeface="Arial"/>
                  <a:ea typeface="Arial"/>
                  <a:cs typeface="Arial"/>
                </a:rPr>
                <a:t>8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66044" y="1086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E7D32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04294" y="1086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57C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42544" y="1086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62828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53879" y="1086802"/>
              <a:ext cx="285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E7D32"/>
                  </a:solidFill>
                  <a:latin typeface="Arial"/>
                  <a:ea typeface="Arial"/>
                  <a:cs typeface="Arial"/>
                </a:rPr>
                <a:t>75%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71500" y="1333500"/>
              <a:ext cx="10858500" cy="36195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6666" y="1467802"/>
              <a:ext cx="12652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类别B: 设计与制造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8923" y="14678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12121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66044" y="1467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E7D32"/>
                  </a:solidFill>
                  <a:latin typeface="Arial"/>
                  <a:ea typeface="Arial"/>
                  <a:cs typeface="Arial"/>
                </a:rPr>
                <a:t>7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04294" y="1467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57C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42544" y="1467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62828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53879" y="1467802"/>
              <a:ext cx="285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E7D32"/>
                  </a:solidFill>
                  <a:latin typeface="Arial"/>
                  <a:ea typeface="Arial"/>
                  <a:cs typeface="Arial"/>
                </a:rPr>
                <a:t>70%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71500" y="1714500"/>
              <a:ext cx="10858500" cy="361950"/>
            </a:xfrm>
            <a:prstGeom prst="roundRect">
              <a:avLst>
                <a:gd name="adj" fmla="val 5263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6666" y="1848802"/>
              <a:ext cx="12652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类别C: 供应链信息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7794" y="1848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12121"/>
                  </a:solidFill>
                  <a:latin typeface="Arial"/>
                  <a:ea typeface="Arial"/>
                  <a:cs typeface="Arial"/>
                </a:rPr>
                <a:t>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66044" y="1848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E7D32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04294" y="1848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57C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42544" y="1848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62828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953879" y="1848802"/>
              <a:ext cx="285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62828"/>
                  </a:solidFill>
                  <a:latin typeface="Arial"/>
                  <a:ea typeface="Arial"/>
                  <a:cs typeface="Arial"/>
                </a:rPr>
                <a:t>56%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71500" y="2095500"/>
              <a:ext cx="10858500" cy="36195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6666" y="2229802"/>
              <a:ext cx="14145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类别D: 性能与耐久性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27794" y="2229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12121"/>
                  </a:solidFill>
                  <a:latin typeface="Arial"/>
                  <a:ea typeface="Arial"/>
                  <a:cs typeface="Arial"/>
                </a:rPr>
                <a:t>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66044" y="2229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E7D32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04294" y="2229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57C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42544" y="2229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62828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53879" y="2229802"/>
              <a:ext cx="285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E7D32"/>
                  </a:solidFill>
                  <a:latin typeface="Arial"/>
                  <a:ea typeface="Arial"/>
                  <a:cs typeface="Arial"/>
                </a:rPr>
                <a:t>75%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71500" y="2476500"/>
              <a:ext cx="10858500" cy="361950"/>
            </a:xfrm>
            <a:prstGeom prst="roundRect">
              <a:avLst>
                <a:gd name="adj" fmla="val 5263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6666" y="2610802"/>
              <a:ext cx="9665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类别E: 碳足迹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27794" y="2610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12121"/>
                  </a:solidFill>
                  <a:latin typeface="Arial"/>
                  <a:ea typeface="Arial"/>
                  <a:cs typeface="Arial"/>
                </a:rPr>
                <a:t>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766044" y="2610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E7D32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04294" y="2610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57C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42544" y="2610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62828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953879" y="2610802"/>
              <a:ext cx="285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62828"/>
                  </a:solidFill>
                  <a:latin typeface="Arial"/>
                  <a:ea typeface="Arial"/>
                  <a:cs typeface="Arial"/>
                </a:rPr>
                <a:t>57%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71500" y="2857500"/>
              <a:ext cx="10858500" cy="36195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56666" y="2991802"/>
              <a:ext cx="14145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类别F: 回收与再利用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527794" y="2991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12121"/>
                  </a:solidFill>
                  <a:latin typeface="Arial"/>
                  <a:ea typeface="Arial"/>
                  <a:cs typeface="Arial"/>
                </a:rPr>
                <a:t>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766044" y="2991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E7D32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04294" y="2991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57C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42544" y="2991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62828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953879" y="2991802"/>
              <a:ext cx="285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57C00"/>
                  </a:solidFill>
                  <a:latin typeface="Arial"/>
                  <a:ea typeface="Arial"/>
                  <a:cs typeface="Arial"/>
                </a:rPr>
                <a:t>63%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71500" y="3238500"/>
              <a:ext cx="10858500" cy="361950"/>
            </a:xfrm>
            <a:prstGeom prst="roundRect">
              <a:avLst>
                <a:gd name="adj" fmla="val 5263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56666" y="3372802"/>
              <a:ext cx="11158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类别G: 尽职调查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527794" y="3372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12121"/>
                  </a:solidFill>
                  <a:latin typeface="Arial"/>
                  <a:ea typeface="Arial"/>
                  <a:cs typeface="Arial"/>
                </a:rPr>
                <a:t>7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766044" y="3372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E7D32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04294" y="3372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57C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242544" y="3372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62828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53879" y="3372802"/>
              <a:ext cx="285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62828"/>
                  </a:solidFill>
                  <a:latin typeface="Arial"/>
                  <a:ea typeface="Arial"/>
                  <a:cs typeface="Arial"/>
                </a:rPr>
                <a:t>57%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71500" y="3619500"/>
              <a:ext cx="10858500" cy="36195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56666" y="3753802"/>
              <a:ext cx="12652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类别H: 安全与合规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527794" y="3753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12121"/>
                  </a:solidFill>
                  <a:latin typeface="Arial"/>
                  <a:ea typeface="Arial"/>
                  <a:cs typeface="Arial"/>
                </a:rPr>
                <a:t>8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766044" y="3753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E7D32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04294" y="3753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57C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42544" y="3753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62828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953879" y="3753802"/>
              <a:ext cx="285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E7D32"/>
                  </a:solidFill>
                  <a:latin typeface="Arial"/>
                  <a:ea typeface="Arial"/>
                  <a:cs typeface="Arial"/>
                </a:rPr>
                <a:t>75%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71500" y="4000500"/>
              <a:ext cx="10858500" cy="361950"/>
            </a:xfrm>
            <a:prstGeom prst="roundRect">
              <a:avLst>
                <a:gd name="adj" fmla="val 5263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56666" y="4134802"/>
              <a:ext cx="13772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类别I: 数字护照数据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527794" y="4134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12121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766044" y="4134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E7D32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004294" y="4134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57C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42544" y="41348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62828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953879" y="4134802"/>
              <a:ext cx="285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57C00"/>
                  </a:solidFill>
                  <a:latin typeface="Arial"/>
                  <a:ea typeface="Arial"/>
                  <a:cs typeface="Arial"/>
                </a:rPr>
                <a:t>67%</a:t>
              </a:r>
            </a:p>
          </p:txBody>
        </p:sp>
      </p:grpSp>
      <p:sp>
        <p:nvSpPr>
          <p:cNvPr id="76" name="Rectangle 76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471488" y="6626066"/>
            <a:ext cx="5725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[公司名称]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592147" y="6626066"/>
            <a:ext cx="100770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机密 / Confidential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1650274" y="6626066"/>
            <a:ext cx="7023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477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832" y="297180"/>
            <a:ext cx="243635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A级差距 — 阻断项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6675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28575">
            <a:solidFill>
              <a:srgbClr val="2E7D32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65404" y="775335"/>
            <a:ext cx="10299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必须首先解决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71500" y="1047750"/>
            <a:ext cx="10858500" cy="2667000"/>
            <a:chOff x="571500" y="1047750"/>
            <a:chExt cx="10858500" cy="2667000"/>
          </a:xfrm>
        </p:grpSpPr>
        <p:sp>
          <p:nvSpPr>
            <p:cNvPr id="6" name="Rectangle 6"/>
            <p:cNvSpPr/>
            <p:nvPr/>
          </p:nvSpPr>
          <p:spPr>
            <a:xfrm>
              <a:off x="571500" y="1047750"/>
              <a:ext cx="10858500" cy="762000"/>
            </a:xfrm>
            <a:prstGeom prst="roundRect">
              <a:avLst>
                <a:gd name="adj" fmla="val 10000"/>
              </a:avLst>
            </a:prstGeom>
            <a:solidFill>
              <a:srgbClr val="FFEBEE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047750"/>
              <a:ext cx="57150" cy="7620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0392" y="1187768"/>
              <a:ext cx="1921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电池化学成分详细数据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51916" y="1486852"/>
              <a:ext cx="35136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当前状态：完全缺失 | 法规依据：Art.7, Annex XIII-1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2000250"/>
              <a:ext cx="10858500" cy="762000"/>
            </a:xfrm>
            <a:prstGeom prst="roundRect">
              <a:avLst>
                <a:gd name="adj" fmla="val 10000"/>
              </a:avLst>
            </a:prstGeom>
            <a:solidFill>
              <a:srgbClr val="FFEBEE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2000250"/>
              <a:ext cx="57150" cy="7620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392" y="214026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供应链尽职调查报告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1916" y="2439352"/>
              <a:ext cx="3593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当前状态：完全缺失 | 法规依据：Art.39, Annex XIII-7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952750"/>
              <a:ext cx="10858500" cy="762000"/>
            </a:xfrm>
            <a:prstGeom prst="roundRect">
              <a:avLst>
                <a:gd name="adj" fmla="val 10000"/>
              </a:avLst>
            </a:prstGeom>
            <a:solidFill>
              <a:srgbClr val="FFEBEE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71500" y="2952750"/>
              <a:ext cx="57150" cy="7620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0392" y="30927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碳足迹声明文件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1916" y="3391852"/>
              <a:ext cx="38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当前状态：部分数据缺失 | 法规依据：Art.8, Annex XIII-5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4286250"/>
            <a:ext cx="10858500" cy="428625"/>
            <a:chOff x="571500" y="4286250"/>
            <a:chExt cx="10858500" cy="428625"/>
          </a:xfrm>
        </p:grpSpPr>
        <p:sp>
          <p:nvSpPr>
            <p:cNvPr id="19" name="Rectangle 19"/>
            <p:cNvSpPr/>
            <p:nvPr/>
          </p:nvSpPr>
          <p:spPr>
            <a:xfrm>
              <a:off x="571500" y="4286250"/>
              <a:ext cx="10858500" cy="428625"/>
            </a:xfrm>
            <a:prstGeom prst="roundRect">
              <a:avLst>
                <a:gd name="adj" fmla="val 8889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28530" y="4450556"/>
              <a:ext cx="2544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缺少任一项将无法完成电池护照注册</a:t>
              </a:r>
            </a:p>
          </p:txBody>
        </p:sp>
      </p:grpSp>
      <p:sp>
        <p:nvSpPr>
          <p:cNvPr id="22" name="Rectangle 22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71488" y="6626066"/>
            <a:ext cx="5725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[公司名称]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92147" y="6626066"/>
            <a:ext cx="100770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机密 / Confidential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650274" y="6626066"/>
            <a:ext cx="7023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477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832" y="297180"/>
            <a:ext cx="243635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B级差距 — 重大项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6675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28575">
            <a:solidFill>
              <a:srgbClr val="2E7D32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65404" y="775335"/>
            <a:ext cx="10299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7C00"/>
                </a:solidFill>
                <a:latin typeface="Arial"/>
                <a:ea typeface="Microsoft YaHei"/>
                <a:cs typeface="Arial"/>
              </a:rPr>
              <a:t>时间窗口有限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71500" y="1047750"/>
            <a:ext cx="10858500" cy="3095625"/>
            <a:chOff x="571500" y="1047750"/>
            <a:chExt cx="10858500" cy="3095625"/>
          </a:xfrm>
        </p:grpSpPr>
        <p:sp>
          <p:nvSpPr>
            <p:cNvPr id="6" name="Rectangle 6"/>
            <p:cNvSpPr/>
            <p:nvPr/>
          </p:nvSpPr>
          <p:spPr>
            <a:xfrm>
              <a:off x="571500" y="1047750"/>
              <a:ext cx="10858500" cy="666750"/>
            </a:xfrm>
            <a:prstGeom prst="roundRect">
              <a:avLst>
                <a:gd name="adj" fmla="val 11429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047750"/>
              <a:ext cx="57150" cy="66675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1154" y="11849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电池寿命测试数据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52297" y="1437799"/>
              <a:ext cx="39508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状态：部分可用 | Art.10, Annex XIII-3 | 强制日期：2027-02-18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1857375"/>
              <a:ext cx="10858500" cy="666750"/>
            </a:xfrm>
            <a:prstGeom prst="roundRect">
              <a:avLst>
                <a:gd name="adj" fmla="val 11429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1857375"/>
              <a:ext cx="57150" cy="66675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1154" y="1994535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回收指导文件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2297" y="2247424"/>
              <a:ext cx="3815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状态：需补充 | Art.12, Annex XIII-6 | 强制日期：2027-02-18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667000"/>
              <a:ext cx="10858500" cy="666750"/>
            </a:xfrm>
            <a:prstGeom prst="roundRect">
              <a:avLst>
                <a:gd name="adj" fmla="val 11429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71500" y="2667000"/>
              <a:ext cx="57150" cy="66675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1154" y="280416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原材料来源证明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2297" y="3057049"/>
              <a:ext cx="39508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状态：部分可用 | Art.39, Annex XIII-7 | 强制日期：2027-08-18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3476625"/>
              <a:ext cx="10858500" cy="666750"/>
            </a:xfrm>
            <a:prstGeom prst="roundRect">
              <a:avLst>
                <a:gd name="adj" fmla="val 11429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71500" y="3476625"/>
              <a:ext cx="57150" cy="66675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1154" y="3613785"/>
              <a:ext cx="12846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CE合规声明更新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2297" y="3866674"/>
              <a:ext cx="29133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状态：需更新 | Art.18 | 强制日期：2027-02-18</a:t>
              </a:r>
            </a:p>
          </p:txBody>
        </p:sp>
      </p:grpSp>
      <p:sp>
        <p:nvSpPr>
          <p:cNvPr id="23" name="Rectangle 23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71488" y="6626066"/>
            <a:ext cx="5725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[公司名称]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92147" y="6626066"/>
            <a:ext cx="100770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机密 / Confidential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650274" y="6626066"/>
            <a:ext cx="7023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477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832" y="297180"/>
            <a:ext cx="210703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C/D级差距概览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6675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28575">
            <a:solidFill>
              <a:srgbClr val="2E7D32"/>
            </a:solidFill>
          </a:ln>
        </p:spPr>
      </p:sp>
      <p:grpSp>
        <p:nvGrpSpPr>
          <p:cNvPr id="25" name="Group 25"/>
          <p:cNvGrpSpPr/>
          <p:nvPr/>
        </p:nvGrpSpPr>
        <p:grpSpPr>
          <a:xfrm>
            <a:off x="571500" y="952500"/>
            <a:ext cx="10858500" cy="2857500"/>
            <a:chOff x="571500" y="952500"/>
            <a:chExt cx="10858500" cy="2857500"/>
          </a:xfrm>
        </p:grpSpPr>
        <p:sp>
          <p:nvSpPr>
            <p:cNvPr id="5" name="Rectangle 5"/>
            <p:cNvSpPr/>
            <p:nvPr/>
          </p:nvSpPr>
          <p:spPr>
            <a:xfrm>
              <a:off x="571500" y="952500"/>
              <a:ext cx="5286375" cy="2857500"/>
            </a:xfrm>
            <a:prstGeom prst="roundRect">
              <a:avLst>
                <a:gd name="adj" fmla="val 2667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5142" y="1140142"/>
              <a:ext cx="23626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C级差距（可改善，15项）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1409700"/>
              <a:ext cx="4905375" cy="9525"/>
            </a:xfrm>
            <a:custGeom>
              <a:avLst/>
              <a:gdLst/>
              <a:ahLst/>
              <a:cxnLst/>
              <a:rect l="l" t="t" r="r" b="b"/>
              <a:pathLst>
                <a:path w="4905375" h="9525">
                  <a:moveTo>
                    <a:pt x="0" y="0"/>
                  </a:moveTo>
                  <a:lnTo>
                    <a:pt x="4905375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6666" y="1553528"/>
              <a:ext cx="1396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包装材料回收率数据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6666" y="1791652"/>
              <a:ext cx="1678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电池编码追溯系统完整性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666" y="2029778"/>
              <a:ext cx="1537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有害物质检测报告更新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6666" y="2267902"/>
              <a:ext cx="1396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能效测试数据标准化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6666" y="2506028"/>
              <a:ext cx="1254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售后维修指导文件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6666" y="2744152"/>
              <a:ext cx="1254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批次质量追溯记录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3133249"/>
              <a:ext cx="21273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... 等共15项（可在中期逐步改善）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143625" y="952500"/>
              <a:ext cx="5286375" cy="2857500"/>
            </a:xfrm>
            <a:prstGeom prst="roundRect">
              <a:avLst>
                <a:gd name="adj" fmla="val 2667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27267" y="1140142"/>
              <a:ext cx="28566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D级差距（最佳实践建议，6项）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334125" y="1409700"/>
              <a:ext cx="4905375" cy="9525"/>
            </a:xfrm>
            <a:custGeom>
              <a:avLst/>
              <a:gdLst/>
              <a:ahLst/>
              <a:cxnLst/>
              <a:rect l="l" t="t" r="r" b="b"/>
              <a:pathLst>
                <a:path w="4905375" h="9525">
                  <a:moveTo>
                    <a:pt x="0" y="0"/>
                  </a:moveTo>
                  <a:lnTo>
                    <a:pt x="4905375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28791" y="1553528"/>
              <a:ext cx="1678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产品环境声明第三方认证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28791" y="1791652"/>
              <a:ext cx="1415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全生命周期LCA评估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28791" y="2029778"/>
              <a:ext cx="1415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供应链ESG评级体系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28791" y="2267902"/>
              <a:ext cx="1254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数字化转型路线图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28791" y="2506028"/>
              <a:ext cx="1254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循环经济指标优化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28791" y="2744152"/>
              <a:ext cx="1396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碳减排长期目标设定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29172" y="3133249"/>
              <a:ext cx="24505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... 等共6项（可作为最佳实践逐步提升）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71488" y="6626066"/>
            <a:ext cx="5725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[公司名称]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92147" y="6626066"/>
            <a:ext cx="100770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机密 / Confidential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650274" y="6626066"/>
            <a:ext cx="7023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477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832" y="297180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整改路线图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6675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28575">
            <a:solidFill>
              <a:srgbClr val="2E7D32"/>
            </a:solidFill>
          </a:ln>
        </p:spPr>
      </p:sp>
      <p:grpSp>
        <p:nvGrpSpPr>
          <p:cNvPr id="48" name="Group 48"/>
          <p:cNvGrpSpPr/>
          <p:nvPr/>
        </p:nvGrpSpPr>
        <p:grpSpPr>
          <a:xfrm>
            <a:off x="571500" y="1047750"/>
            <a:ext cx="11049000" cy="3238500"/>
            <a:chOff x="571500" y="1047750"/>
            <a:chExt cx="11049000" cy="3238500"/>
          </a:xfrm>
        </p:grpSpPr>
        <p:sp>
          <p:nvSpPr>
            <p:cNvPr id="5" name="Rectangle 5"/>
            <p:cNvSpPr/>
            <p:nvPr/>
          </p:nvSpPr>
          <p:spPr>
            <a:xfrm>
              <a:off x="571500" y="1047750"/>
              <a:ext cx="2667000" cy="3238500"/>
            </a:xfrm>
            <a:prstGeom prst="roundRect">
              <a:avLst>
                <a:gd name="adj" fmla="val 2857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047750"/>
              <a:ext cx="2667000" cy="476250"/>
            </a:xfrm>
            <a:prstGeom prst="roundRect">
              <a:avLst>
                <a:gd name="adj" fmla="val 16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333500"/>
              <a:ext cx="2667000" cy="1905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05230" y="1251585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第一阶段：立即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6666" y="1696402"/>
              <a:ext cx="14377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解决A级差距（3项）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7047" y="1990249"/>
              <a:ext cx="14349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电池化学成分数据采集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228374"/>
              <a:ext cx="11711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尽职调查报告编制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466499"/>
              <a:ext cx="13030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碳足迹声明文件编制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238" y="295084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时间：立即启动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238" y="3188970"/>
              <a:ext cx="11908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预算参考：约15-25万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429000" y="1047750"/>
              <a:ext cx="2667000" cy="3238500"/>
            </a:xfrm>
            <a:prstGeom prst="roundRect">
              <a:avLst>
                <a:gd name="adj" fmla="val 2857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429000" y="1047750"/>
              <a:ext cx="2667000" cy="476250"/>
            </a:xfrm>
            <a:prstGeom prst="roundRect">
              <a:avLst>
                <a:gd name="adj" fmla="val 16000"/>
              </a:avLst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429000" y="1333500"/>
              <a:ext cx="2667000" cy="19050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022792" y="1251585"/>
              <a:ext cx="14794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第二阶段：1-3个月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14166" y="1696402"/>
              <a:ext cx="14377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7C00"/>
                  </a:solidFill>
                  <a:latin typeface="Arial"/>
                  <a:ea typeface="Microsoft YaHei"/>
                  <a:cs typeface="Arial"/>
                </a:rPr>
                <a:t>解决B级差距（8项）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14547" y="1990249"/>
              <a:ext cx="11711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寿命测试数据补充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14547" y="2228374"/>
              <a:ext cx="11711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回收指导文件完善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14547" y="2466499"/>
              <a:ext cx="1039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原材料来源证明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14547" y="2704624"/>
              <a:ext cx="11054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CE合规声明更新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14738" y="3046095"/>
              <a:ext cx="8152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时间：1-3个月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14738" y="3284220"/>
              <a:ext cx="11908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预算参考：约20-35万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86500" y="1047750"/>
              <a:ext cx="2667000" cy="3238500"/>
            </a:xfrm>
            <a:prstGeom prst="roundRect">
              <a:avLst>
                <a:gd name="adj" fmla="val 2857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86500" y="1047750"/>
              <a:ext cx="2667000" cy="476250"/>
            </a:xfrm>
            <a:prstGeom prst="roundRect">
              <a:avLst>
                <a:gd name="adj" fmla="val 16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86500" y="1333500"/>
              <a:ext cx="2667000" cy="1905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33646" y="1251585"/>
              <a:ext cx="15727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第三阶段：3-12个月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71666" y="1696402"/>
              <a:ext cx="1523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改善C级差距（15项）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72047" y="1990249"/>
              <a:ext cx="1039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包装回收率数据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72047" y="2228374"/>
              <a:ext cx="11711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编码追溯系统完善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72047" y="2466499"/>
              <a:ext cx="9072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检测报告更新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72047" y="2704624"/>
              <a:ext cx="1039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能效数据标准化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2238" y="3046095"/>
              <a:ext cx="8818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时间：3-12个月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72238" y="3284220"/>
              <a:ext cx="11908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预算参考：约10-20万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144000" y="1047750"/>
              <a:ext cx="2476500" cy="3238500"/>
            </a:xfrm>
            <a:prstGeom prst="roundRect">
              <a:avLst>
                <a:gd name="adj" fmla="val 3077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144000" y="1047750"/>
              <a:ext cx="2476500" cy="476250"/>
            </a:xfrm>
            <a:prstGeom prst="roundRect">
              <a:avLst>
                <a:gd name="adj" fmla="val 16000"/>
              </a:avLst>
            </a:prstGeom>
            <a:solidFill>
              <a:srgbClr val="616161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9144000" y="1333500"/>
              <a:ext cx="2476500" cy="190500"/>
            </a:xfrm>
            <a:prstGeom prst="rect">
              <a:avLst/>
            </a:prstGeom>
            <a:solidFill>
              <a:srgbClr val="61616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036912" y="12515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持续改进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29166" y="1696402"/>
              <a:ext cx="14377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D级最佳实践（6项）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29547" y="1990249"/>
              <a:ext cx="1039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第三方环境认证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29547" y="2228374"/>
              <a:ext cx="6244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LCA评估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29547" y="2466499"/>
              <a:ext cx="9032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ESG评级体系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29547" y="2704624"/>
              <a:ext cx="7753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碳减排目标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29738" y="30460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时间：持续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29738" y="3284220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预算参考：按需投入</a:t>
              </a:r>
            </a:p>
          </p:txBody>
        </p:sp>
      </p:grpSp>
      <p:sp>
        <p:nvSpPr>
          <p:cNvPr id="49" name="Rectangle 49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471488" y="6626066"/>
            <a:ext cx="5725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[公司名称]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592147" y="6626066"/>
            <a:ext cx="100770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机密 / Confidential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589560" y="6626066"/>
            <a:ext cx="13095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477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832" y="297180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关键日期提醒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6675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28575">
            <a:solidFill>
              <a:srgbClr val="2E7D32"/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571500" y="1143000"/>
            <a:ext cx="10858500" cy="4227195"/>
            <a:chOff x="571500" y="1143000"/>
            <a:chExt cx="10858500" cy="4227195"/>
          </a:xfrm>
        </p:grpSpPr>
        <p:sp>
          <p:nvSpPr>
            <p:cNvPr id="5" name="Rectangle 5"/>
            <p:cNvSpPr/>
            <p:nvPr/>
          </p:nvSpPr>
          <p:spPr>
            <a:xfrm>
              <a:off x="571500" y="1143000"/>
              <a:ext cx="10858500" cy="1905000"/>
            </a:xfrm>
            <a:prstGeom prst="roundRect">
              <a:avLst>
                <a:gd name="adj" fmla="val 6000"/>
              </a:avLst>
            </a:prstGeom>
            <a:solidFill>
              <a:srgbClr val="1A237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189706" y="147351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距离2027年2月18日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85025" y="1756410"/>
              <a:ext cx="3031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电池护照（Battery Passport）强制执行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792111" y="2036445"/>
              <a:ext cx="2417277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[X] 天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3429000"/>
              <a:ext cx="10858500" cy="1905000"/>
            </a:xfrm>
            <a:prstGeom prst="roundRect">
              <a:avLst>
                <a:gd name="adj" fmla="val 6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189706" y="375951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CDD2"/>
                  </a:solidFill>
                  <a:latin typeface="Arial"/>
                  <a:ea typeface="Microsoft YaHei"/>
                  <a:cs typeface="Arial"/>
                </a:rPr>
                <a:t>距离2027年8月18日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77880" y="4042410"/>
              <a:ext cx="2645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CDD2"/>
                  </a:solidFill>
                  <a:latin typeface="Arial"/>
                  <a:ea typeface="Microsoft YaHei"/>
                  <a:cs typeface="Arial"/>
                </a:rPr>
                <a:t>尽职调查（Due Diligence）正式生效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92111" y="4322445"/>
              <a:ext cx="2417277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[X] 天</a:t>
              </a:r>
            </a:p>
          </p:txBody>
        </p:sp>
      </p:grpSp>
      <p:sp>
        <p:nvSpPr>
          <p:cNvPr id="14" name="Rectangle 14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71488" y="6626066"/>
            <a:ext cx="5725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[公司名称]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92147" y="6626066"/>
            <a:ext cx="100770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机密 / Confidential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89560" y="6626066"/>
            <a:ext cx="13095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477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832" y="297180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下一步建议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6675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28575">
            <a:solidFill>
              <a:srgbClr val="2E7D32"/>
            </a:solidFill>
          </a:ln>
        </p:spPr>
      </p:sp>
      <p:grpSp>
        <p:nvGrpSpPr>
          <p:cNvPr id="35" name="Group 35"/>
          <p:cNvGrpSpPr/>
          <p:nvPr/>
        </p:nvGrpSpPr>
        <p:grpSpPr>
          <a:xfrm>
            <a:off x="571500" y="952500"/>
            <a:ext cx="10858500" cy="3429000"/>
            <a:chOff x="571500" y="952500"/>
            <a:chExt cx="10858500" cy="3429000"/>
          </a:xfrm>
        </p:grpSpPr>
        <p:sp>
          <p:nvSpPr>
            <p:cNvPr id="5" name="Rectangle 5"/>
            <p:cNvSpPr/>
            <p:nvPr/>
          </p:nvSpPr>
          <p:spPr>
            <a:xfrm>
              <a:off x="571500" y="952500"/>
              <a:ext cx="3429000" cy="3429000"/>
            </a:xfrm>
            <a:prstGeom prst="roundRect">
              <a:avLst>
                <a:gd name="adj" fmla="val 2222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952500"/>
              <a:ext cx="3429000" cy="523875"/>
            </a:xfrm>
            <a:prstGeom prst="roundRect">
              <a:avLst>
                <a:gd name="adj" fmla="val 14545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285875"/>
              <a:ext cx="3429000" cy="1905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6670" y="11687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数据规划服务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6666" y="1648778"/>
              <a:ext cx="1396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数据点采集方案制定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666" y="1886902"/>
              <a:ext cx="11134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内部数据源梳理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6666" y="2125028"/>
              <a:ext cx="9721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数据质量评估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6666" y="2363152"/>
              <a:ext cx="1254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缺失数据补充策略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847499"/>
              <a:ext cx="7925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时间：2-4周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3085624"/>
              <a:ext cx="11295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预算参考：[X]万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286250" y="952500"/>
              <a:ext cx="3429000" cy="3429000"/>
            </a:xfrm>
            <a:prstGeom prst="roundRect">
              <a:avLst>
                <a:gd name="adj" fmla="val 2222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286250" y="952500"/>
              <a:ext cx="3429000" cy="523875"/>
            </a:xfrm>
            <a:prstGeom prst="roundRect">
              <a:avLst>
                <a:gd name="adj" fmla="val 14545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286250" y="1285875"/>
              <a:ext cx="3429000" cy="1905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516832" y="11687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供应商辅导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71416" y="1648778"/>
              <a:ext cx="1396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供应商数据能力评估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71416" y="1886902"/>
              <a:ext cx="11134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供应商合规培训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71416" y="2125028"/>
              <a:ext cx="1396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供应链数据协议签署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71416" y="2363152"/>
              <a:ext cx="11134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数据验证与审核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71797" y="2847499"/>
              <a:ext cx="9310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时间：1-3个月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71797" y="3085624"/>
              <a:ext cx="11295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预算参考：[X]万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01000" y="952500"/>
              <a:ext cx="3429000" cy="3429000"/>
            </a:xfrm>
            <a:prstGeom prst="roundRect">
              <a:avLst>
                <a:gd name="adj" fmla="val 2222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001000" y="952500"/>
              <a:ext cx="3429000" cy="523875"/>
            </a:xfrm>
            <a:prstGeom prst="roundRect">
              <a:avLst>
                <a:gd name="adj" fmla="val 14545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001000" y="1285875"/>
              <a:ext cx="3429000" cy="1905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26994" y="1168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注册辅导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86166" y="1648778"/>
              <a:ext cx="1537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电池护照注册流程指导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86166" y="1886902"/>
              <a:ext cx="1254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平台对接技术支持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86166" y="2125028"/>
              <a:ext cx="9721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合规文件审核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86166" y="2363152"/>
              <a:ext cx="9721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持续合规监控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86547" y="2847499"/>
              <a:ext cx="9310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时间：3-6个月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86547" y="3085624"/>
              <a:ext cx="11295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预算参考：[X]万</a:t>
              </a:r>
            </a:p>
          </p:txBody>
        </p:sp>
      </p:grpSp>
      <p:sp>
        <p:nvSpPr>
          <p:cNvPr id="36" name="Rectangle 36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71488" y="6626066"/>
            <a:ext cx="5725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[公司名称]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592147" y="6626066"/>
            <a:ext cx="100770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机密 / Confidential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589560" y="6626066"/>
            <a:ext cx="13095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477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832" y="297180"/>
            <a:ext cx="212271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附录A — 术语表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6675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28575">
            <a:solidFill>
              <a:srgbClr val="2E7D32"/>
            </a:solidFill>
          </a:ln>
        </p:spPr>
      </p:sp>
      <p:grpSp>
        <p:nvGrpSpPr>
          <p:cNvPr id="49" name="Group 49"/>
          <p:cNvGrpSpPr/>
          <p:nvPr/>
        </p:nvGrpSpPr>
        <p:grpSpPr>
          <a:xfrm>
            <a:off x="571500" y="952500"/>
            <a:ext cx="10858500" cy="3600450"/>
            <a:chOff x="571500" y="952500"/>
            <a:chExt cx="10858500" cy="3600450"/>
          </a:xfrm>
        </p:grpSpPr>
        <p:sp>
          <p:nvSpPr>
            <p:cNvPr id="5" name="Rectangle 5"/>
            <p:cNvSpPr/>
            <p:nvPr/>
          </p:nvSpPr>
          <p:spPr>
            <a:xfrm>
              <a:off x="571500" y="952500"/>
              <a:ext cx="10858500" cy="342900"/>
            </a:xfrm>
            <a:prstGeom prst="roundRect">
              <a:avLst>
                <a:gd name="adj" fmla="val 5556"/>
              </a:avLst>
            </a:prstGeom>
            <a:solidFill>
              <a:srgbClr val="1A237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6666" y="1077278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缩写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947416" y="1077278"/>
              <a:ext cx="5118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English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709916" y="1077278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中文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952500"/>
              <a:ext cx="10858500" cy="342900"/>
            </a:xfrm>
            <a:prstGeom prst="roundRect">
              <a:avLst>
                <a:gd name="adj" fmla="val 5556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6666" y="107727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DPP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47416" y="1077278"/>
              <a:ext cx="17128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12121"/>
                  </a:solidFill>
                  <a:latin typeface="Arial"/>
                  <a:ea typeface="Arial"/>
                  <a:cs typeface="Arial"/>
                </a:rPr>
                <a:t>Digital Product Passport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09916" y="10772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数字产品护照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1314450"/>
              <a:ext cx="10858500" cy="3429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6666" y="1439228"/>
              <a:ext cx="6995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Annex XIII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47416" y="1439228"/>
              <a:ext cx="22111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12121"/>
                  </a:solidFill>
                  <a:latin typeface="Arial"/>
                  <a:ea typeface="Arial"/>
                  <a:cs typeface="Arial"/>
                </a:rPr>
                <a:t>Annex XIII of Battery Regulation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09916" y="14392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电池法规附件十三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1676400"/>
              <a:ext cx="10858500" cy="342900"/>
            </a:xfrm>
            <a:prstGeom prst="roundRect">
              <a:avLst>
                <a:gd name="adj" fmla="val 5556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6666" y="1801178"/>
              <a:ext cx="1289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Battery Passport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47416" y="1801178"/>
              <a:ext cx="12283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12121"/>
                  </a:solidFill>
                  <a:latin typeface="Arial"/>
                  <a:ea typeface="Arial"/>
                  <a:cs typeface="Arial"/>
                </a:rPr>
                <a:t>Battery Passport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09916" y="18011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电池护照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1500" y="2038350"/>
              <a:ext cx="10858500" cy="3429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6666" y="2163128"/>
              <a:ext cx="9320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Due Diligence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47416" y="2163128"/>
              <a:ext cx="888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12121"/>
                  </a:solidFill>
                  <a:latin typeface="Arial"/>
                  <a:ea typeface="Arial"/>
                  <a:cs typeface="Arial"/>
                </a:rPr>
                <a:t>Due Diligence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09916" y="21631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尽职调查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71500" y="2400300"/>
              <a:ext cx="10858500" cy="342900"/>
            </a:xfrm>
            <a:prstGeom prst="roundRect">
              <a:avLst>
                <a:gd name="adj" fmla="val 5556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56666" y="252507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LCA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47416" y="2525078"/>
              <a:ext cx="15437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12121"/>
                  </a:solidFill>
                  <a:latin typeface="Arial"/>
                  <a:ea typeface="Arial"/>
                  <a:cs typeface="Arial"/>
                </a:rPr>
                <a:t>Life Cycle Assessment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09916" y="25250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生命周期评估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71500" y="2762250"/>
              <a:ext cx="10858500" cy="3429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6666" y="2887028"/>
              <a:ext cx="7970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CE Marking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47416" y="2887028"/>
              <a:ext cx="1609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12121"/>
                  </a:solidFill>
                  <a:latin typeface="Arial"/>
                  <a:ea typeface="Arial"/>
                  <a:cs typeface="Arial"/>
                </a:rPr>
                <a:t>Conformite Europeenne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09916" y="28870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欧盟合格标志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71500" y="3124200"/>
              <a:ext cx="10858500" cy="342900"/>
            </a:xfrm>
            <a:prstGeom prst="roundRect">
              <a:avLst>
                <a:gd name="adj" fmla="val 5556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6666" y="324897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EPR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47416" y="3248978"/>
              <a:ext cx="2299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12121"/>
                  </a:solidFill>
                  <a:latin typeface="Arial"/>
                  <a:ea typeface="Arial"/>
                  <a:cs typeface="Arial"/>
                </a:rPr>
                <a:t>Extended Producer Responsibility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09916" y="32489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生产者延伸责任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71500" y="3486150"/>
              <a:ext cx="10858500" cy="3429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6666" y="3610928"/>
              <a:ext cx="2648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SoC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47416" y="3610928"/>
              <a:ext cx="11156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12121"/>
                  </a:solidFill>
                  <a:latin typeface="Arial"/>
                  <a:ea typeface="Arial"/>
                  <a:cs typeface="Arial"/>
                </a:rPr>
                <a:t>State of Charge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09916" y="36109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充电状态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71500" y="3848100"/>
              <a:ext cx="10858500" cy="342900"/>
            </a:xfrm>
            <a:prstGeom prst="roundRect">
              <a:avLst>
                <a:gd name="adj" fmla="val 5556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6666" y="3972878"/>
              <a:ext cx="2648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SoH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947416" y="3972878"/>
              <a:ext cx="10800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12121"/>
                  </a:solidFill>
                  <a:latin typeface="Arial"/>
                  <a:ea typeface="Arial"/>
                  <a:cs typeface="Arial"/>
                </a:rPr>
                <a:t>State of Health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09916" y="39728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健康状态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71500" y="4210050"/>
              <a:ext cx="10858500" cy="3429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6666" y="4334828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OECD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947416" y="4334828"/>
              <a:ext cx="19216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12121"/>
                  </a:solidFill>
                  <a:latin typeface="Arial"/>
                  <a:ea typeface="Arial"/>
                  <a:cs typeface="Arial"/>
                </a:rPr>
                <a:t>OECD Due Diligence Guidance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09916" y="433482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经合组织尽职调查指南</a:t>
              </a:r>
            </a:p>
          </p:txBody>
        </p:sp>
      </p:grpSp>
      <p:sp>
        <p:nvSpPr>
          <p:cNvPr id="50" name="Rectangle 50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471488" y="6626066"/>
            <a:ext cx="5725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[公司名称]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592147" y="6626066"/>
            <a:ext cx="100770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机密 / Confidential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589560" y="6626066"/>
            <a:ext cx="13095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477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832" y="297180"/>
            <a:ext cx="243635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附录B — 法规来源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6675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28575">
            <a:solidFill>
              <a:srgbClr val="2E7D32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564642" y="806768"/>
            <a:ext cx="5714805" cy="3190493"/>
            <a:chOff x="564642" y="806768"/>
            <a:chExt cx="5714805" cy="3190493"/>
          </a:xfrm>
        </p:grpSpPr>
        <p:sp>
          <p:nvSpPr>
            <p:cNvPr id="5" name="TextBox 5"/>
            <p:cNvSpPr txBox="1"/>
            <p:nvPr/>
          </p:nvSpPr>
          <p:spPr>
            <a:xfrm>
              <a:off x="564642" y="8067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核心法规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6166" y="1172528"/>
              <a:ext cx="35501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Regulation (EU) 2023/1542 — 欧盟电池与废电池法规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7047" y="1399699"/>
              <a:ext cx="55224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2E7D32"/>
                  </a:solidFill>
                  <a:latin typeface="Arial"/>
                  <a:ea typeface="Arial"/>
                  <a:cs typeface="Arial"/>
                </a:rPr>
                <a:t>EUR-Lex: https://eur-lex.europa.eu/legal-content/EN/TXT/?uri=CELEX:32023R1542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4642" y="1711642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关键条款索引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2029778"/>
              <a:ext cx="21258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Art.7 — 电池化学成分信息要求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166" y="2267902"/>
              <a:ext cx="1693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Art.8 — 碳足迹声明要求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6166" y="2506028"/>
              <a:ext cx="19170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Art.10 — 性能与耐久性要求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166" y="2744152"/>
              <a:ext cx="19170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Art.12 — 回收与再利用要求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166" y="2982278"/>
              <a:ext cx="1519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Art.18 — CE合规标志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6166" y="3220402"/>
              <a:ext cx="17730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Art.39 — 供应链尽职调查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6166" y="3458528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Art.65 — 数字电池护照（Battery Passport）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6166" y="3791902"/>
              <a:ext cx="3295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21212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Annex XIII — 电池护照数据点清单（71个数据点）</a:t>
              </a:r>
            </a:p>
          </p:txBody>
        </p:sp>
      </p:grpSp>
      <p:sp>
        <p:nvSpPr>
          <p:cNvPr id="18" name="Rectangle 18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71488" y="6626066"/>
            <a:ext cx="5725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[公司名称]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92147" y="6626066"/>
            <a:ext cx="100770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机密 / Confidential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589560" y="6626066"/>
            <a:ext cx="13095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6195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68848" y="1230630"/>
            <a:ext cx="1054303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谢谢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32817" y="1996440"/>
            <a:ext cx="192636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dirty="0">
                <a:solidFill>
                  <a:srgbClr val="B0BEC5"/>
                </a:solidFill>
                <a:latin typeface="Arial"/>
                <a:ea typeface="Arial"/>
                <a:cs typeface="Arial"/>
              </a:rPr>
              <a:t>Thank You / Q&amp;A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271326" y="261651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78909C"/>
                </a:solidFill>
                <a:latin typeface="Arial"/>
                <a:ea typeface="Microsoft YaHei"/>
                <a:cs typeface="Arial"/>
              </a:rPr>
              <a:t>期待您的反馈与讨论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995443" y="3933825"/>
            <a:ext cx="2201113" cy="1600581"/>
            <a:chOff x="4995443" y="3933825"/>
            <a:chExt cx="2201113" cy="1600581"/>
          </a:xfrm>
        </p:grpSpPr>
        <p:sp>
          <p:nvSpPr>
            <p:cNvPr id="6" name="TextBox 6"/>
            <p:cNvSpPr txBox="1"/>
            <p:nvPr/>
          </p:nvSpPr>
          <p:spPr>
            <a:xfrm>
              <a:off x="5664327" y="39338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联系方式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16423" y="4347210"/>
              <a:ext cx="1159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联系人：[姓名]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435651" y="4632960"/>
              <a:ext cx="13206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电话：[电话号码]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95443" y="4918710"/>
              <a:ext cx="2201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邮箱：[email@company.com]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491924" y="5299710"/>
              <a:ext cx="12081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[公司Logo位置]</a:t>
              </a:r>
            </a:p>
          </p:txBody>
        </p:sp>
      </p:grpSp>
      <p:sp>
        <p:nvSpPr>
          <p:cNvPr id="12" name="Rectangle 12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71488" y="6626066"/>
            <a:ext cx="5725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[公司名称]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92147" y="6626066"/>
            <a:ext cx="100770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机密 / Confidential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89560" y="6626066"/>
            <a:ext cx="13095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">
  <a:themeElements>
    <a:clrScheme name="projec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ject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jec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2026-09-18T06:45:54Z</dcterms:created>
  <dcterms:modified xsi:type="dcterms:W3CDTF">2026-09-18T06:45:54Z</dcterms:modified>
  <cp:category/>
  <cp:contentStatus/>
</cp:coreProperties>
</file>